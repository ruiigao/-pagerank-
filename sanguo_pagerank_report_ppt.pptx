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2" Type="http://schemas.openxmlformats.org/officeDocument/2006/relationships/tags" Target="../tags/tag4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01168"/>
            <a:ext cx="292608" cy="292608"/>
          </a:xfrm>
          <a:prstGeom prst="ellipse">
            <a:avLst/>
          </a:prstGeom>
          <a:solidFill>
            <a:srgbClr val="B4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01168"/>
            <a:ext cx="292608" cy="292608"/>
          </a:xfrm>
          <a:prstGeom prst="ellipse">
            <a:avLst/>
          </a:prstGeom>
          <a:solidFill>
            <a:srgbClr val="B4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201168"/>
            <a:ext cx="292608" cy="292608"/>
          </a:xfrm>
          <a:prstGeom prst="ellipse">
            <a:avLst/>
          </a:prstGeom>
          <a:solidFill>
            <a:srgbClr val="B4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201168"/>
            <a:ext cx="292608" cy="292608"/>
          </a:xfrm>
          <a:prstGeom prst="ellipse">
            <a:avLst/>
          </a:prstGeom>
          <a:solidFill>
            <a:srgbClr val="B4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7565"/>
            <a:ext cx="10607040" cy="9556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indent="0" algn="ctr" fontAlgn="auto">
              <a:lnSpc>
                <a:spcPct val="125000"/>
              </a:lnSpc>
            </a:pPr>
            <a:r>
              <a:rPr sz="3400" b="1">
                <a:solidFill>
                  <a:srgbClr val="1E3C64"/>
                </a:solidFill>
                <a:latin typeface="微软雅黑" panose="020B0503020204020204" charset="-122"/>
              </a:rPr>
              <a:t>基于图结构与 PageRank 算法的
《三国演义》人物关系网络分析</a:t>
            </a:r>
            <a:endParaRPr sz="3400" b="1">
              <a:solidFill>
                <a:srgbClr val="1E3C6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5063" y="4800600"/>
            <a:ext cx="2362835" cy="107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 algn="ctr" fontAlgn="auto">
              <a:lnSpc>
                <a:spcPct val="125000"/>
              </a:lnSpc>
            </a:pPr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姓名：</a:t>
            </a:r>
            <a:r>
              <a:rPr lang="zh-CN" sz="1700" b="0">
                <a:solidFill>
                  <a:srgbClr val="282828"/>
                </a:solidFill>
                <a:latin typeface="微软雅黑" panose="020B0503020204020204" charset="-122"/>
              </a:rPr>
              <a:t>高睿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indent="0" algn="ctr" fontAlgn="auto">
              <a:lnSpc>
                <a:spcPct val="125000"/>
              </a:lnSpc>
            </a:pPr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学号：</a:t>
            </a:r>
            <a:r>
              <a:rPr lang="en-US" sz="1700" b="0">
                <a:solidFill>
                  <a:srgbClr val="282828"/>
                </a:solidFill>
                <a:latin typeface="微软雅黑" panose="020B0503020204020204" charset="-122"/>
              </a:rPr>
              <a:t>21251613</a:t>
            </a:r>
            <a:endParaRPr lang="en-US"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indent="0" algn="ctr" fontAlgn="auto">
              <a:lnSpc>
                <a:spcPct val="125000"/>
              </a:lnSpc>
            </a:pPr>
            <a:r>
              <a:rPr lang="zh-CN" altLang="en-US" sz="1700" b="0">
                <a:solidFill>
                  <a:srgbClr val="282828"/>
                </a:solidFill>
                <a:latin typeface="微软雅黑" panose="020B0503020204020204" charset="-122"/>
              </a:rPr>
              <a:t>日期：</a:t>
            </a:r>
            <a:r>
              <a:rPr lang="en-US" altLang="zh-CN" sz="1700" b="0">
                <a:solidFill>
                  <a:srgbClr val="282828"/>
                </a:solidFill>
                <a:latin typeface="微软雅黑" panose="020B0503020204020204" charset="-122"/>
              </a:rPr>
              <a:t>2026</a:t>
            </a:r>
            <a:r>
              <a:rPr lang="zh-CN" altLang="en-US" sz="1700" b="0">
                <a:solidFill>
                  <a:srgbClr val="282828"/>
                </a:solidFill>
                <a:latin typeface="微软雅黑" panose="020B0503020204020204" charset="-122"/>
              </a:rPr>
              <a:t>年</a:t>
            </a:r>
            <a:r>
              <a:rPr lang="en-US" altLang="zh-CN" sz="1700" b="0">
                <a:solidFill>
                  <a:srgbClr val="282828"/>
                </a:solidFill>
                <a:latin typeface="微软雅黑" panose="020B0503020204020204" charset="-122"/>
              </a:rPr>
              <a:t>5</a:t>
            </a:r>
            <a:r>
              <a:rPr lang="zh-CN" altLang="en-US" sz="1700" b="0">
                <a:solidFill>
                  <a:srgbClr val="282828"/>
                </a:solidFill>
                <a:latin typeface="微软雅黑" panose="020B0503020204020204" charset="-122"/>
              </a:rPr>
              <a:t>月</a:t>
            </a:r>
            <a:r>
              <a:rPr lang="en-US" altLang="zh-CN" sz="1700" b="0">
                <a:solidFill>
                  <a:srgbClr val="282828"/>
                </a:solidFill>
                <a:latin typeface="微软雅黑" panose="020B0503020204020204" charset="-122"/>
              </a:rPr>
              <a:t>11</a:t>
            </a:r>
            <a:r>
              <a:rPr lang="zh-CN" altLang="en-US" sz="1700" b="0">
                <a:solidFill>
                  <a:srgbClr val="282828"/>
                </a:solidFill>
                <a:latin typeface="微软雅黑" panose="020B0503020204020204" charset="-122"/>
              </a:rPr>
              <a:t>日</a:t>
            </a:r>
            <a:endParaRPr lang="zh-CN" altLang="en-US"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汇报目录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2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Oval 5"/>
          <p:cNvSpPr/>
          <p:nvPr>
            <p:custDataLst>
              <p:tags r:id="rId1"/>
            </p:custDataLst>
          </p:nvPr>
        </p:nvSpPr>
        <p:spPr>
          <a:xfrm>
            <a:off x="914400" y="1051560"/>
            <a:ext cx="502920" cy="502920"/>
          </a:xfrm>
          <a:prstGeom prst="ellipse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914400" y="11247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645920" y="1090930"/>
            <a:ext cx="2743200" cy="3816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100" b="1">
                <a:solidFill>
                  <a:srgbClr val="2E63A4"/>
                </a:solidFill>
                <a:latin typeface="微软雅黑" panose="020B0503020204020204" charset="-122"/>
              </a:rPr>
              <a:t>研究背景</a:t>
            </a:r>
            <a:endParaRPr sz="21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3794760" y="1129030"/>
            <a:ext cx="6858000" cy="2336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为什么可以把小说人物关系看成图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Oval 9"/>
          <p:cNvSpPr/>
          <p:nvPr>
            <p:custDataLst>
              <p:tags r:id="rId5"/>
            </p:custDataLst>
          </p:nvPr>
        </p:nvSpPr>
        <p:spPr>
          <a:xfrm>
            <a:off x="914400" y="1984248"/>
            <a:ext cx="502920" cy="502920"/>
          </a:xfrm>
          <a:prstGeom prst="ellipse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914400" y="20574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645920" y="2033905"/>
            <a:ext cx="2743200" cy="2520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100" b="1">
                <a:solidFill>
                  <a:srgbClr val="2E63A4"/>
                </a:solidFill>
                <a:latin typeface="微软雅黑" panose="020B0503020204020204" charset="-122"/>
              </a:rPr>
              <a:t>数据建模</a:t>
            </a:r>
            <a:endParaRPr sz="21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794760" y="2057400"/>
            <a:ext cx="6858000" cy="2374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人物、关系边、权重如何设计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>
            <p:custDataLst>
              <p:tags r:id="rId9"/>
            </p:custDataLst>
          </p:nvPr>
        </p:nvSpPr>
        <p:spPr>
          <a:xfrm>
            <a:off x="914400" y="2916936"/>
            <a:ext cx="502920" cy="502920"/>
          </a:xfrm>
          <a:prstGeom prst="ellipse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914400" y="299008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1645920" y="2964180"/>
            <a:ext cx="2743200" cy="2546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100" b="1">
                <a:solidFill>
                  <a:srgbClr val="2E63A4"/>
                </a:solidFill>
                <a:latin typeface="微软雅黑" panose="020B0503020204020204" charset="-122"/>
              </a:rPr>
              <a:t>算法实现</a:t>
            </a:r>
            <a:endParaRPr sz="21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3794760" y="2977515"/>
            <a:ext cx="6858000" cy="2501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邻接表、加权度数、PageRank 迭代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>
            <p:custDataLst>
              <p:tags r:id="rId13"/>
            </p:custDataLst>
          </p:nvPr>
        </p:nvSpPr>
        <p:spPr>
          <a:xfrm>
            <a:off x="914400" y="3849624"/>
            <a:ext cx="502920" cy="502920"/>
          </a:xfrm>
          <a:prstGeom prst="ellipse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914400" y="392277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1645920" y="3896995"/>
            <a:ext cx="2743200" cy="2546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100" b="1">
                <a:solidFill>
                  <a:srgbClr val="2E63A4"/>
                </a:solidFill>
                <a:latin typeface="微软雅黑" panose="020B0503020204020204" charset="-122"/>
              </a:rPr>
              <a:t>实验结果</a:t>
            </a:r>
            <a:endParaRPr sz="21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3794760" y="3932555"/>
            <a:ext cx="6858000" cy="2279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人物重要性排名与结果分析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>
            <p:custDataLst>
              <p:tags r:id="rId17"/>
            </p:custDataLst>
          </p:nvPr>
        </p:nvSpPr>
        <p:spPr>
          <a:xfrm>
            <a:off x="914400" y="4782312"/>
            <a:ext cx="502920" cy="502920"/>
          </a:xfrm>
          <a:prstGeom prst="ellipse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914400" y="48554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1645920" y="4851400"/>
            <a:ext cx="2743200" cy="2324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100" b="1">
                <a:solidFill>
                  <a:srgbClr val="2E63A4"/>
                </a:solidFill>
                <a:latin typeface="微软雅黑" panose="020B0503020204020204" charset="-122"/>
              </a:rPr>
              <a:t>总结展望</a:t>
            </a:r>
            <a:endParaRPr sz="21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3794760" y="4873625"/>
            <a:ext cx="6858000" cy="2197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项目结论、不足和改进方向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一、研究背景与选题意义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3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074920" cy="46234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265" y="1360805"/>
            <a:ext cx="4745990" cy="4228465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E63A4"/>
                </a:solidFill>
                <a:latin typeface="微软雅黑" panose="020B0503020204020204" charset="-122"/>
              </a:rPr>
              <a:t>研究动机</a:t>
            </a:r>
            <a:endParaRPr sz="1900" b="1">
              <a:solidFill>
                <a:srgbClr val="2E63A4"/>
              </a:solidFill>
              <a:latin typeface="微软雅黑" panose="020B0503020204020204" charset="-122"/>
            </a:endParaRP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《三国演义》中人物众多，且人物之间存在结义、君臣、联盟、敌对等复杂关系。</a:t>
            </a: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这些关系可以抽象成图结构：人物是节点，人物关系是边。</a:t>
            </a: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通过 PageRank 算法，可以从网络结构角度分析“谁更重要”。</a:t>
            </a: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本项目把文学人物关系分析与数据结构中的图算法结合起来。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492240" y="1143000"/>
            <a:ext cx="4297680" cy="777240"/>
          </a:xfrm>
          <a:prstGeom prst="roundRect">
            <a:avLst/>
          </a:prstGeom>
          <a:solidFill>
            <a:srgbClr val="DEEBF7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720840" y="1225296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小说人物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855585" y="1536192"/>
            <a:ext cx="15709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刘备、曹操、孙权</a:t>
            </a:r>
            <a:r>
              <a:rPr lang="en-US" sz="1200" b="0">
                <a:solidFill>
                  <a:srgbClr val="282828"/>
                </a:solidFill>
                <a:latin typeface="微软雅黑" panose="020B0503020204020204" charset="-122"/>
              </a:rPr>
              <a:t> </a:t>
            </a:r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…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Down Arrow 10"/>
          <p:cNvSpPr/>
          <p:nvPr>
            <p:custDataLst>
              <p:tags r:id="rId4"/>
            </p:custDataLst>
          </p:nvPr>
        </p:nvSpPr>
        <p:spPr>
          <a:xfrm>
            <a:off x="8435340" y="2034540"/>
            <a:ext cx="411480" cy="41148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6492240" y="2560320"/>
            <a:ext cx="4297680" cy="777240"/>
          </a:xfrm>
          <a:prstGeom prst="roundRect">
            <a:avLst/>
          </a:prstGeom>
          <a:solidFill>
            <a:srgbClr val="E8F2E8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720840" y="2642615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图结构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6720840" y="295351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节点 + 边 + 权重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5" name="Down Arrow 14"/>
          <p:cNvSpPr/>
          <p:nvPr>
            <p:custDataLst>
              <p:tags r:id="rId8"/>
            </p:custDataLst>
          </p:nvPr>
        </p:nvSpPr>
        <p:spPr>
          <a:xfrm>
            <a:off x="8435340" y="3451859"/>
            <a:ext cx="411480" cy="41148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6492240" y="3977639"/>
            <a:ext cx="4297680" cy="777240"/>
          </a:xfrm>
          <a:prstGeom prst="roundRect">
            <a:avLst/>
          </a:prstGeom>
          <a:solidFill>
            <a:srgbClr val="DEEBF7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6720840" y="4059935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算法分析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6720840" y="4370831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PageRank 排名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二、数据集构建与图模型设计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4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94360" y="960120"/>
            <a:ext cx="1828800" cy="960120"/>
          </a:xfrm>
          <a:prstGeom prst="roundRect">
            <a:avLst/>
          </a:prstGeom>
          <a:solidFill>
            <a:srgbClr val="DEEBF7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594360" y="1088136"/>
            <a:ext cx="1828800" cy="4608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63A4"/>
                </a:solidFill>
                <a:latin typeface="微软雅黑" panose="020B0503020204020204" charset="-122"/>
              </a:rPr>
              <a:t>30</a:t>
            </a:r>
            <a:endParaRPr sz="28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40080" y="1516989"/>
            <a:ext cx="173736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微软雅黑" panose="020B0503020204020204" charset="-122"/>
              </a:rPr>
              <a:t>人物节点</a:t>
            </a:r>
            <a:endParaRPr sz="13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2651760" y="960120"/>
            <a:ext cx="1828800" cy="960120"/>
          </a:xfrm>
          <a:prstGeom prst="roundRect">
            <a:avLst/>
          </a:prstGeom>
          <a:solidFill>
            <a:srgbClr val="DEEBF7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2651760" y="1088136"/>
            <a:ext cx="1828800" cy="4608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63A4"/>
                </a:solidFill>
                <a:latin typeface="微软雅黑" panose="020B0503020204020204" charset="-122"/>
              </a:rPr>
              <a:t>102</a:t>
            </a:r>
            <a:endParaRPr sz="28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2697479" y="1516989"/>
            <a:ext cx="173736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微软雅黑" panose="020B0503020204020204" charset="-122"/>
              </a:rPr>
              <a:t>人物关系边</a:t>
            </a:r>
            <a:endParaRPr sz="13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709160" y="960120"/>
            <a:ext cx="1828800" cy="960120"/>
          </a:xfrm>
          <a:prstGeom prst="roundRect">
            <a:avLst/>
          </a:prstGeom>
          <a:solidFill>
            <a:srgbClr val="DEEBF7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177790" y="1088136"/>
            <a:ext cx="89154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E63A4"/>
                </a:solidFill>
                <a:latin typeface="微软雅黑" panose="020B0503020204020204" charset="-122"/>
              </a:rPr>
              <a:t>2</a:t>
            </a:r>
            <a:r>
              <a:rPr lang="en-US" sz="2800" b="1">
                <a:solidFill>
                  <a:srgbClr val="2E63A4"/>
                </a:solidFill>
                <a:latin typeface="微软雅黑" panose="020B0503020204020204" charset="-122"/>
              </a:rPr>
              <a:t>~</a:t>
            </a:r>
            <a:r>
              <a:rPr sz="2800" b="1">
                <a:solidFill>
                  <a:srgbClr val="2E63A4"/>
                </a:solidFill>
                <a:latin typeface="微软雅黑" panose="020B0503020204020204" charset="-122"/>
              </a:rPr>
              <a:t>5</a:t>
            </a:r>
            <a:endParaRPr sz="28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754880" y="1516989"/>
            <a:ext cx="173736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微软雅黑" panose="020B0503020204020204" charset="-122"/>
              </a:rPr>
              <a:t>关系权重</a:t>
            </a:r>
            <a:endParaRPr sz="13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" y="2240280"/>
          <a:ext cx="5806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886200"/>
              </a:tblGrid>
              <a:tr h="5029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  <a:spcBef>
                          <a:spcPts val="160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图元素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本项目含义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节点 V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《三国演义》中的主要人物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边 E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两个人物之间的重要关系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权重 w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关系强度或情节影响程度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图类型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加权无向图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存储方式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9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邻接表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network_grap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960120"/>
            <a:ext cx="541274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20840" y="53949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微软雅黑" panose="020B0503020204020204" charset="-122"/>
              </a:rPr>
              <a:t>说明：节点大小大致按 PageRank 值显示，颜色表示不同阵营。</a:t>
            </a:r>
            <a:endParaRPr sz="11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三、人物关系数据设计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5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078992"/>
            <a:ext cx="5065776" cy="18713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CSV 数据格式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程序输入文件：data/character_edges_simple.csv</a:t>
            </a:r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字段：source、target、weight</a:t>
            </a:r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每一行表示一条人物关系边，例如：刘备,</a:t>
            </a:r>
            <a:r>
              <a:rPr lang="en-US"/>
              <a:t> </a:t>
            </a:r>
            <a:r>
              <a:t>关羽,</a:t>
            </a:r>
            <a:r>
              <a:rPr lang="en-US"/>
              <a:t> </a:t>
            </a:r>
            <a:r>
              <a:t>5</a:t>
            </a:r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权重越大，表示关系越紧密或冲突越关键。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960120"/>
          <a:ext cx="4800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00200"/>
                <a:gridCol w="2377440"/>
              </a:tblGrid>
              <a:tr h="484632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权重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含义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示例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核心关系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刘备—关羽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重要关系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曹操—张辽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一般重要关系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赵云—关羽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较弱关系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司马懿—陆逊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097280" y="3794760"/>
            <a:ext cx="9784080" cy="2374900"/>
          </a:xfrm>
          <a:prstGeom prst="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950208"/>
            <a:ext cx="2795270" cy="20713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 fontAlgn="auto">
              <a:spcAft>
                <a:spcPts val="800"/>
              </a:spcAft>
            </a:pPr>
            <a:r>
              <a:rPr sz="1700" b="1">
                <a:solidFill>
                  <a:srgbClr val="1E1E1E"/>
                </a:solidFill>
                <a:latin typeface="Consolas" panose="020B0609020204030204"/>
              </a:rPr>
              <a:t>source,</a:t>
            </a:r>
            <a:r>
              <a:rPr lang="en-US" sz="1700" b="1">
                <a:solidFill>
                  <a:srgbClr val="1E1E1E"/>
                </a:solidFill>
                <a:latin typeface="Consolas" panose="020B0609020204030204"/>
              </a:rPr>
              <a:t> </a:t>
            </a:r>
            <a:r>
              <a:rPr sz="1700" b="1">
                <a:solidFill>
                  <a:srgbClr val="1E1E1E"/>
                </a:solidFill>
                <a:latin typeface="Consolas" panose="020B0609020204030204"/>
              </a:rPr>
              <a:t>target,</a:t>
            </a:r>
            <a:r>
              <a:rPr lang="en-US" sz="1700" b="1">
                <a:solidFill>
                  <a:srgbClr val="1E1E1E"/>
                </a:solidFill>
                <a:latin typeface="Consolas" panose="020B0609020204030204"/>
              </a:rPr>
              <a:t> </a:t>
            </a:r>
            <a:r>
              <a:rPr sz="1700" b="1">
                <a:solidFill>
                  <a:srgbClr val="1E1E1E"/>
                </a:solidFill>
                <a:latin typeface="Consolas" panose="020B0609020204030204"/>
              </a:rPr>
              <a:t>weight</a:t>
            </a:r>
            <a:endParaRPr sz="1700" b="1">
              <a:solidFill>
                <a:srgbClr val="1E1E1E"/>
              </a:solidFill>
              <a:latin typeface="Consolas" panose="020B0609020204030204"/>
            </a:endParaRPr>
          </a:p>
          <a:p>
            <a:pPr indent="0" fontAlgn="auto">
              <a:spcAft>
                <a:spcPts val="600"/>
              </a:spcAft>
            </a:pP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刘备,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关羽,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 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5</a:t>
            </a:r>
            <a:endParaRPr sz="1700" b="0">
              <a:solidFill>
                <a:srgbClr val="1E1E1E"/>
              </a:solidFill>
              <a:latin typeface="Consolas" panose="020B0609020204030204"/>
            </a:endParaRPr>
          </a:p>
          <a:p>
            <a:pPr indent="0" fontAlgn="auto">
              <a:spcAft>
                <a:spcPts val="600"/>
              </a:spcAft>
            </a:pP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刘备,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张飞,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 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5</a:t>
            </a:r>
            <a:endParaRPr sz="1700" b="0">
              <a:solidFill>
                <a:srgbClr val="1E1E1E"/>
              </a:solidFill>
              <a:latin typeface="Consolas" panose="020B0609020204030204"/>
            </a:endParaRPr>
          </a:p>
          <a:p>
            <a:pPr indent="0" fontAlgn="auto">
              <a:spcAft>
                <a:spcPts val="600"/>
              </a:spcAft>
            </a:pP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刘备,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诸葛亮,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 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5</a:t>
            </a:r>
            <a:endParaRPr sz="1700" b="0">
              <a:solidFill>
                <a:srgbClr val="1E1E1E"/>
              </a:solidFill>
              <a:latin typeface="Consolas" panose="020B0609020204030204"/>
            </a:endParaRPr>
          </a:p>
          <a:p>
            <a:pPr indent="0" fontAlgn="auto">
              <a:spcAft>
                <a:spcPts val="600"/>
              </a:spcAft>
            </a:pP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曹操,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郭嘉,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 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5</a:t>
            </a:r>
            <a:endParaRPr sz="1700" b="0">
              <a:solidFill>
                <a:srgbClr val="1E1E1E"/>
              </a:solidFill>
              <a:latin typeface="Consolas" panose="020B0609020204030204"/>
            </a:endParaRPr>
          </a:p>
          <a:p>
            <a:pPr indent="0" fontAlgn="auto">
              <a:spcAft>
                <a:spcPts val="600"/>
              </a:spcAft>
            </a:pP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诸葛亮,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司马懿,</a:t>
            </a:r>
            <a:r>
              <a:rPr lang="en-US" sz="1700" b="0">
                <a:solidFill>
                  <a:srgbClr val="1E1E1E"/>
                </a:solidFill>
                <a:latin typeface="Consolas" panose="020B0609020204030204"/>
              </a:rPr>
              <a:t>	   </a:t>
            </a:r>
            <a:r>
              <a:rPr sz="1700" b="0">
                <a:solidFill>
                  <a:srgbClr val="1E1E1E"/>
                </a:solidFill>
                <a:latin typeface="Consolas" panose="020B0609020204030204"/>
              </a:rPr>
              <a:t>5</a:t>
            </a:r>
            <a:endParaRPr sz="1700" b="0">
              <a:solidFill>
                <a:srgbClr val="1E1E1E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四、PageRank 算法原理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6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838200" y="960120"/>
                <a:ext cx="10515600" cy="868680"/>
              </a:xfrm>
              <a:prstGeom prst="roundRect">
                <a:avLst/>
              </a:prstGeom>
              <a:solidFill>
                <a:srgbClr val="FFF2DC"/>
              </a:solidFill>
              <a:ln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𝑷𝑹</m:t>
                      </m:r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𝒗</m:t>
                      </m:r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)=</m:t>
                      </m:r>
                      <m:f>
                        <m:fPr>
                          <m:ctrlPr>
                            <a:rPr lang="en-US" altLang="zh-CN" b="1" i="1">
                              <a:solidFill>
                                <a:srgbClr val="783C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783C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𝟏−𝒅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rgbClr val="783C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𝑵</m:t>
                          </m:r>
                        </m:den>
                      </m:f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+</m:t>
                      </m:r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𝒅</m:t>
                      </m:r>
                      <m:r>
                        <a:rPr lang="en-US" altLang="zh-CN" b="1" i="1">
                          <a:solidFill>
                            <a:srgbClr val="783C00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×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altLang="zh-CN" b="1" i="1">
                              <a:solidFill>
                                <a:srgbClr val="783C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1" i="1">
                              <a:solidFill>
                                <a:srgbClr val="783C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[</m:t>
                          </m:r>
                          <m:box>
                            <m:boxPr>
                              <m:noBreak m:val="on"/>
                              <m:ctrlPr>
                                <a:rPr lang="en-US" altLang="zh-CN" b="1" i="1">
                                  <a:solidFill>
                                    <a:srgbClr val="783C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𝑃𝑅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𝑢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)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×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𝑤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𝑢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,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𝑣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𝑊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𝑢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783C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box>
                          <m:r>
                            <a:rPr lang="en-US" altLang="zh-CN" b="1" i="1">
                              <a:solidFill>
                                <a:srgbClr val="783C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60120"/>
                <a:ext cx="10515600" cy="868680"/>
              </a:xfrm>
              <a:prstGeom prst="roundRect">
                <a:avLst/>
              </a:prstGeom>
              <a:blipFill rotWithShape="1">
                <a:blip r:embed="rId1"/>
                <a:stretch>
                  <a:fillRect l="-368" t="-1827" r="-362" b="-7018"/>
                </a:stretch>
              </a:blipFill>
              <a:ln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822960" y="2155190"/>
            <a:ext cx="5074920" cy="33343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425" y="2400300"/>
            <a:ext cx="4745990" cy="300355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算法思想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PageRank 原本用于网页重要性排序。</a:t>
            </a:r>
            <a:endParaRPr sz="1800"/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在本项目中，人物相当于网页，人物关系相当于链接。</a:t>
            </a:r>
            <a:endParaRPr sz="1800"/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一个人物的重要性不仅取决于连接数量，也取决于连接对象的重要性。</a:t>
            </a:r>
            <a:endParaRPr sz="1800"/>
          </a:p>
          <a:p>
            <a:pPr indent="0" fontAlgn="auto">
              <a:lnSpc>
                <a:spcPct val="112000"/>
              </a:lnSpc>
              <a:spcAft>
                <a:spcPts val="6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边权重越大，该关系在传播重要性时占比越高。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46520" y="2148840"/>
          <a:ext cx="5093970" cy="330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15"/>
                <a:gridCol w="3056255"/>
              </a:tblGrid>
              <a:tr h="661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参数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取值/含义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damping factor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0.85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max iteration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100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epsilon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1e-8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661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实际迭代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230000"/>
                        </a:lnSpc>
                      </a:pPr>
                      <a:r>
                        <a:rPr sz="12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28 次收敛</a:t>
                      </a:r>
                      <a:endParaRPr sz="12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5492115"/>
            <a:ext cx="4663440" cy="2413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 b="0">
                <a:solidFill>
                  <a:srgbClr val="646464"/>
                </a:solidFill>
                <a:latin typeface="微软雅黑" panose="020B0503020204020204" charset="-122"/>
              </a:rPr>
              <a:t>本实验最终变化量为 9.69e-9，小于收敛阈值，说明算法正常收敛。</a:t>
            </a:r>
            <a:endParaRPr sz="13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215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215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五、C++ 程序设计与实现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7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971800" cy="731520"/>
          </a:xfrm>
          <a:prstGeom prst="roundRect">
            <a:avLst/>
          </a:prstGeom>
          <a:solidFill>
            <a:srgbClr val="DEEBF7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微软雅黑" panose="020B0503020204020204" charset="-122"/>
              </a:rPr>
              <a:t>1. 读取 CSV 文件</a:t>
            </a:r>
            <a:endParaRPr sz="16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749040" y="1352931"/>
            <a:ext cx="411480" cy="29260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143000"/>
            <a:ext cx="2971800" cy="731520"/>
          </a:xfrm>
          <a:prstGeom prst="roundRect">
            <a:avLst/>
          </a:prstGeom>
          <a:solidFill>
            <a:srgbClr val="EBF5EB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5331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微软雅黑" panose="020B0503020204020204" charset="-122"/>
              </a:rPr>
              <a:t>2. 姓名映射为编号</a:t>
            </a:r>
            <a:endParaRPr sz="16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498080" y="1362456"/>
            <a:ext cx="411480" cy="29260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2971800" cy="731520"/>
          </a:xfrm>
          <a:prstGeom prst="roundRect">
            <a:avLst/>
          </a:prstGeom>
          <a:solidFill>
            <a:srgbClr val="DEEBF7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5331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微软雅黑" panose="020B0503020204020204" charset="-122"/>
              </a:rPr>
              <a:t>3. 邻接表建图</a:t>
            </a:r>
            <a:endParaRPr sz="16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2971800" cy="731520"/>
          </a:xfrm>
          <a:prstGeom prst="roundRect">
            <a:avLst/>
          </a:prstGeom>
          <a:solidFill>
            <a:srgbClr val="EBF5EB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3808" y="3182112"/>
            <a:ext cx="165290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600" b="1">
                <a:solidFill>
                  <a:srgbClr val="282828"/>
                </a:solidFill>
                <a:latin typeface="微软雅黑" panose="020B0503020204020204" charset="-122"/>
              </a:rPr>
              <a:t>6. </a:t>
            </a:r>
            <a:r>
              <a:rPr lang="zh-CN" altLang="en-US" sz="1600" b="1">
                <a:solidFill>
                  <a:srgbClr val="282828"/>
                </a:solidFill>
                <a:latin typeface="微软雅黑" panose="020B0503020204020204" charset="-122"/>
              </a:rPr>
              <a:t>输出排名结果</a:t>
            </a:r>
            <a:endParaRPr lang="zh-CN" altLang="en-US" sz="16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 rot="10800000">
            <a:off x="3749040" y="3163316"/>
            <a:ext cx="411480" cy="29260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971800"/>
            <a:ext cx="2971800" cy="731520"/>
          </a:xfrm>
          <a:prstGeom prst="roundRect">
            <a:avLst/>
          </a:prstGeom>
          <a:solidFill>
            <a:srgbClr val="DEEBF7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182112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微软雅黑" panose="020B0503020204020204" charset="-122"/>
              </a:rPr>
              <a:t>5. 迭代计算 PageRank</a:t>
            </a:r>
            <a:endParaRPr sz="16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9" name="Right Arrow 18"/>
          <p:cNvSpPr/>
          <p:nvPr/>
        </p:nvSpPr>
        <p:spPr>
          <a:xfrm rot="10800000">
            <a:off x="7498080" y="3191256"/>
            <a:ext cx="411480" cy="29260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2971800"/>
            <a:ext cx="2971800" cy="731520"/>
          </a:xfrm>
          <a:prstGeom prst="roundRect">
            <a:avLst/>
          </a:prstGeom>
          <a:solidFill>
            <a:srgbClr val="EBF5EB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9475" y="3182112"/>
            <a:ext cx="21577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600" b="1">
                <a:solidFill>
                  <a:srgbClr val="282828"/>
                </a:solidFill>
                <a:latin typeface="微软雅黑" panose="020B0503020204020204" charset="-122"/>
              </a:rPr>
              <a:t>4. </a:t>
            </a:r>
            <a:r>
              <a:rPr lang="zh-CN" altLang="en-US" sz="1600" b="1">
                <a:solidFill>
                  <a:srgbClr val="282828"/>
                </a:solidFill>
                <a:latin typeface="微软雅黑" panose="020B0503020204020204" charset="-122"/>
              </a:rPr>
              <a:t>统计度数</a:t>
            </a:r>
            <a:r>
              <a:rPr lang="en-US" altLang="zh-CN" sz="1600" b="1">
                <a:solidFill>
                  <a:srgbClr val="282828"/>
                </a:solidFill>
                <a:latin typeface="微软雅黑" panose="020B0503020204020204" charset="-122"/>
              </a:rPr>
              <a:t>/</a:t>
            </a:r>
            <a:r>
              <a:rPr lang="zh-CN" altLang="en-US" sz="1600" b="1">
                <a:solidFill>
                  <a:srgbClr val="282828"/>
                </a:solidFill>
                <a:latin typeface="微软雅黑" panose="020B0503020204020204" charset="-122"/>
              </a:rPr>
              <a:t>加权度数</a:t>
            </a:r>
            <a:endParaRPr lang="zh-CN" altLang="en-US" sz="1600" b="1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endParaRPr lang="zh-CN" altLang="en-US" sz="16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1560" y="4194175"/>
          <a:ext cx="10058400" cy="227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046720"/>
              </a:tblGrid>
              <a:tr h="4552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数据结构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在程序中的作用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vector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存储人物数组、邻接表、PageRank 分数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unordered_map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实现人物姓名与编号之间的快速映射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set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记录无向边，避免边数重复统计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sort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80000"/>
                        </a:lnSpc>
                      </a:pPr>
                      <a:r>
                        <a:rPr sz="11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按 PageRank 和加权度数进行排名</a:t>
                      </a:r>
                      <a:endParaRPr sz="11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ight Arrow 10"/>
          <p:cNvSpPr/>
          <p:nvPr/>
        </p:nvSpPr>
        <p:spPr>
          <a:xfrm rot="5400000">
            <a:off x="9369425" y="2214880"/>
            <a:ext cx="494665" cy="4445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六、实验结果：PageRank 排名前 10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8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pagerank_top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1005840"/>
            <a:ext cx="6541770" cy="42976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914400"/>
          <a:ext cx="4069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1325880"/>
                <a:gridCol w="1005840"/>
              </a:tblGrid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排名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人物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PageRank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加权度数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曹操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0.11362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87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孙权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0.07647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62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刘备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0.06762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53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诸葛亮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0.06280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48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关羽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0.04353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34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吕布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0.04185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29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周瑜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0.04178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32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张辽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0.03731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鲁肃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0.03647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28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司马懿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0.03126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7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24220"/>
            <a:ext cx="10515600" cy="1739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500" b="0">
                <a:solidFill>
                  <a:srgbClr val="282828"/>
                </a:solidFill>
                <a:latin typeface="微软雅黑" panose="020B0503020204020204" charset="-122"/>
              </a:rPr>
              <a:t>从结果看，曹操的 PageRank 值明显最高，说明其在整个人物关系网络中处于最核心的位置。</a:t>
            </a:r>
            <a:endParaRPr sz="15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七、实验结果分析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9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545" y="1353820"/>
            <a:ext cx="4928870" cy="31267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E63A4"/>
                </a:solidFill>
                <a:latin typeface="微软雅黑" panose="020B0503020204020204" charset="-122"/>
              </a:rPr>
              <a:t>主要发现</a:t>
            </a:r>
            <a:endParaRPr sz="1700" b="1">
              <a:solidFill>
                <a:srgbClr val="2E63A4"/>
              </a:solidFill>
              <a:latin typeface="微软雅黑" panose="020B0503020204020204" charset="-122"/>
            </a:endParaRP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曹操排名第 1，普通度数 23、加权度数 87，说明其连接人物最多、关系强度最高。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孙权、刘备、诸葛亮排名靠前，符合三国主线叙事结构。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关羽、吕布、周瑜等人物虽然不是阵营最高统治者，但因关键关系较多，仍具有较高影响力。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PageRank 能体现“连接重要人物”的效果，比单纯统计度数更全面。</a:t>
            </a:r>
            <a:endParaRPr sz="1800"/>
          </a:p>
        </p:txBody>
      </p:sp>
      <p:pic>
        <p:nvPicPr>
          <p:cNvPr id="8" name="Picture 7" descr="degree_vs_pageran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66800"/>
            <a:ext cx="5076825" cy="28194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537960" y="4383405"/>
          <a:ext cx="4939665" cy="180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530"/>
                <a:gridCol w="1355725"/>
                <a:gridCol w="1259205"/>
                <a:gridCol w="1259205"/>
              </a:tblGrid>
              <a:tr h="3613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人物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PageRank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普通度数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加权度数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E63A4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曹操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0.11362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23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87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孙权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0.07647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62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刘备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0.06762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53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2F6FC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诸葛亮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0.06280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60000"/>
                        </a:lnSpc>
                      </a:pPr>
                      <a:r>
                        <a:rPr sz="1000" b="0">
                          <a:solidFill>
                            <a:srgbClr val="282828"/>
                          </a:solidFill>
                          <a:latin typeface="微软雅黑" panose="020B0503020204020204" charset="-122"/>
                        </a:rPr>
                        <a:t>48</a:t>
                      </a:r>
                      <a:endParaRPr sz="1000" b="0">
                        <a:solidFill>
                          <a:srgbClr val="282828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E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八、总结与不足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微软雅黑" panose="020B0503020204020204" charset="-122"/>
              </a:rPr>
              <a:t>10</a:t>
            </a:r>
            <a:endParaRPr sz="900" b="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166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265" y="1351280"/>
            <a:ext cx="4837430" cy="233299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项目总结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本项目完成了《三国演义》人物关系网络的图结构建模。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使用邻接表实现了加权无向图存储。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通过加权 PageRank 计算得到了人物重要性排名。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实验结果与小说主要人物地位基本一致，说明方法具有一定合理性。</a:t>
            </a:r>
            <a:endParaRPr sz="1800"/>
          </a:p>
        </p:txBody>
      </p:sp>
      <p:sp>
        <p:nvSpPr>
          <p:cNvPr id="8" name="Rounded Rectangle 7"/>
          <p:cNvSpPr/>
          <p:nvPr/>
        </p:nvSpPr>
        <p:spPr>
          <a:xfrm>
            <a:off x="6400800" y="960120"/>
            <a:ext cx="5166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265" y="1351280"/>
            <a:ext cx="4837430" cy="233299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63A4"/>
                </a:solidFill>
                <a:latin typeface="微软雅黑" panose="020B0503020204020204" charset="-122"/>
              </a:rPr>
              <a:t>不足与展望</a:t>
            </a:r>
            <a:endParaRPr sz="1800" b="1">
              <a:solidFill>
                <a:srgbClr val="2E63A4"/>
              </a:solidFill>
              <a:latin typeface="微软雅黑" panose="020B0503020204020204" charset="-122"/>
            </a:endParaRPr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人物关系数据主要依靠人工整理，存在一定主观性。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目前没有自动从文本中抽取人物共现关系。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后续可以加入社区发现、最短路径、可视化交互等内容。</a:t>
            </a:r>
            <a:endParaRPr sz="1800"/>
          </a:p>
          <a:p>
            <a:pPr indent="457200" fontAlgn="auto">
              <a:lnSpc>
                <a:spcPct val="112000"/>
              </a:lnSpc>
              <a:spcAft>
                <a:spcPts val="400"/>
              </a:spcAft>
              <a:defRPr sz="17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 sz="1800"/>
              <a:t>也可以与其他小说人物网络进行对比分析。</a:t>
            </a:r>
            <a:endParaRPr sz="1800"/>
          </a:p>
        </p:txBody>
      </p:sp>
      <p:sp>
        <p:nvSpPr>
          <p:cNvPr id="10" name="TextBox 9"/>
          <p:cNvSpPr txBox="1"/>
          <p:nvPr/>
        </p:nvSpPr>
        <p:spPr>
          <a:xfrm>
            <a:off x="5238598" y="5810885"/>
            <a:ext cx="171323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sz="2400" b="1">
                <a:solidFill>
                  <a:srgbClr val="2E63A4"/>
                </a:solidFill>
                <a:latin typeface="微软雅黑" panose="020B0503020204020204" charset="-122"/>
              </a:rPr>
              <a:t>感谢观看</a:t>
            </a:r>
            <a:r>
              <a:rPr sz="2400" b="1">
                <a:solidFill>
                  <a:srgbClr val="2E63A4"/>
                </a:solidFill>
                <a:latin typeface="微软雅黑" panose="020B0503020204020204" charset="-122"/>
              </a:rPr>
              <a:t>！</a:t>
            </a:r>
            <a:endParaRPr sz="2400" b="1">
              <a:solidFill>
                <a:srgbClr val="2E63A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2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3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4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5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6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7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8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9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0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1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2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3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4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5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6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7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8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19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20.xml><?xml version="1.0" encoding="utf-8"?>
<p:tagLst xmlns:p="http://schemas.openxmlformats.org/presentationml/2006/main">
  <p:tag name="KSO_WM_DIAGRAM_VIRTUALLY_FRAME" val="{&quot;height&quot;:334.8000787401575,&quot;left&quot;:72,&quot;top&quot;:81.35992125984252,&quot;width&quot;:766.8}"/>
</p:tagLst>
</file>

<file path=ppt/tags/tag21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2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3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4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5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6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7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8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29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30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31.xml><?xml version="1.0" encoding="utf-8"?>
<p:tagLst xmlns:p="http://schemas.openxmlformats.org/presentationml/2006/main">
  <p:tag name="KSO_WM_DIAGRAM_VIRTUALLY_FRAME" val="{&quot;height&quot;:284.39992125984253,&quot;left&quot;:511.2,&quot;top&quot;:90,&quot;width&quot;:338.4}"/>
</p:tagLst>
</file>

<file path=ppt/tags/tag32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3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4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5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6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7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8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39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40.xml><?xml version="1.0" encoding="utf-8"?>
<p:tagLst xmlns:p="http://schemas.openxmlformats.org/presentationml/2006/main">
  <p:tag name="KSO_WM_DIAGRAM_VIRTUALLY_FRAME" val="{&quot;height&quot;:75.6,&quot;left&quot;:46.8,&quot;top&quot;:75.6,&quot;width&quot;:468}"/>
</p:tagLst>
</file>

<file path=ppt/tags/tag41.xml><?xml version="1.0" encoding="utf-8"?>
<p:tagLst xmlns:p="http://schemas.openxmlformats.org/presentationml/2006/main">
  <p:tag name="TABLE_ENDDRAG_ORIGIN_RECT" val="401*260"/>
  <p:tag name="TABLE_ENDDRAG_RECT" val="507*169*401*260"/>
</p:tagLst>
</file>

<file path=ppt/tags/tag42.xml><?xml version="1.0" encoding="utf-8"?>
<p:tagLst xmlns:p="http://schemas.openxmlformats.org/presentationml/2006/main">
  <p:tag name="TABLE_ENDDRAG_ORIGIN_RECT" val="792*179"/>
  <p:tag name="TABLE_ENDDRAG_RECT" val="82*330*792*179"/>
</p:tagLst>
</file>

<file path=ppt/tags/tag43.xml><?xml version="1.0" encoding="utf-8"?>
<p:tagLst xmlns:p="http://schemas.openxmlformats.org/presentationml/2006/main">
  <p:tag name="TABLE_ENDDRAG_ORIGIN_RECT" val="388*142"/>
  <p:tag name="TABLE_ENDDRAG_RECT" val="514*345*388*1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1845</Words>
  <Application>WPS 演示</Application>
  <PresentationFormat>On-screen Show (4:3)</PresentationFormat>
  <Paragraphs>384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Cambria Math</vt:lpstr>
      <vt:lpstr>Office Theme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比類のないかっこう</cp:lastModifiedBy>
  <cp:revision>5</cp:revision>
  <dcterms:created xsi:type="dcterms:W3CDTF">2013-01-27T09:14:00Z</dcterms:created>
  <dcterms:modified xsi:type="dcterms:W3CDTF">2026-05-12T03:18:29Z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A182878F63A54A8394D43DC069277305_12</vt:lpwstr>
  </property>
  <property fmtid="{D5CDD505-2E9C-101B-9397-08002B2CF9AE}" pid="3" name="KSOProductBuildVer">
    <vt:lpwstr>2052-12.1.0.23542</vt:lpwstr>
  </property>
</Properties>
</file>